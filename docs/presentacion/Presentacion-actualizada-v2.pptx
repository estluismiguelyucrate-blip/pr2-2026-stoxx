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afe4ea1b9c4fa8" /><Relationship Type="http://schemas.openxmlformats.org/officeDocument/2006/relationships/extended-properties" Target="/docProps/app.xml" Id="R515ebd3991804757" /><Relationship Type="http://schemas.openxmlformats.org/officeDocument/2006/relationships/officeDocument" Target="/ppt/presentation.xml" Id="Raf5cc6d9f553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87471caad4a86"/>
  </p:sldMasterIdLst>
  <p:notesMasterIdLst>
    <p:notesMasterId xmlns:r="http://schemas.openxmlformats.org/officeDocument/2006/relationships" r:id="R81aa9f166ffd40fc"/>
  </p:notesMasterIdLst>
  <p:sldIdLst>
    <p:sldId xmlns:r="http://schemas.openxmlformats.org/officeDocument/2006/relationships" id="256" r:id="R2446b3f35b8940bd"/>
    <p:sldId xmlns:r="http://schemas.openxmlformats.org/officeDocument/2006/relationships" id="257" r:id="Raf2334b241604977"/>
    <p:sldId xmlns:r="http://schemas.openxmlformats.org/officeDocument/2006/relationships" id="258" r:id="R2c9b4b407fd4413d"/>
    <p:sldId xmlns:r="http://schemas.openxmlformats.org/officeDocument/2006/relationships" id="259" r:id="R6ca700a1ab0c4d81"/>
    <p:sldId xmlns:r="http://schemas.openxmlformats.org/officeDocument/2006/relationships" id="260" r:id="R073b62240e024b3b"/>
    <p:sldId xmlns:r="http://schemas.openxmlformats.org/officeDocument/2006/relationships" id="261" r:id="Rf8553b13ba714e9d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75390770c4d39" /><Relationship Type="http://schemas.openxmlformats.org/officeDocument/2006/relationships/slideMaster" Target="/ppt/slideMasters/slideMaster1.xml" Id="R66987471caad4a86" /><Relationship Type="http://schemas.openxmlformats.org/officeDocument/2006/relationships/notesMaster" Target="/ppt/notesMasters/notesMaster1.xml" Id="R81aa9f166ffd40fc" /><Relationship Type="http://schemas.openxmlformats.org/officeDocument/2006/relationships/presProps" Target="/ppt/presProps.xml" Id="R2e68d6568caf4da7" /><Relationship Type="http://schemas.openxmlformats.org/officeDocument/2006/relationships/viewProps" Target="/ppt/viewProps.xml" Id="Rdabaf3beaa114099" /><Relationship Type="http://schemas.openxmlformats.org/officeDocument/2006/relationships/tableStyles" Target="/ppt/tableStyles.xml" Id="R503ff12d3c8a4709" /><Relationship Type="http://schemas.openxmlformats.org/officeDocument/2006/relationships/slide" Target="/ppt/slides/slide1.xml" Id="R2446b3f35b8940bd" /><Relationship Type="http://schemas.openxmlformats.org/officeDocument/2006/relationships/slide" Target="/ppt/slides/slide2.xml" Id="Raf2334b241604977" /><Relationship Type="http://schemas.openxmlformats.org/officeDocument/2006/relationships/slide" Target="/ppt/slides/slide3.xml" Id="R2c9b4b407fd4413d" /><Relationship Type="http://schemas.openxmlformats.org/officeDocument/2006/relationships/slide" Target="/ppt/slides/slide4.xml" Id="R6ca700a1ab0c4d81" /><Relationship Type="http://schemas.openxmlformats.org/officeDocument/2006/relationships/slide" Target="/ppt/slides/slide5.xml" Id="R073b62240e024b3b" /><Relationship Type="http://schemas.openxmlformats.org/officeDocument/2006/relationships/slide" Target="/ppt/slides/slide6.xml" Id="Rf8553b13ba714e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18edfe24f34d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e13da06e3d4014" /><Relationship Type="http://schemas.openxmlformats.org/officeDocument/2006/relationships/notesMaster" Target="/ppt/notesMasters/notesMaster1.xml" Id="Rfcc04de64c1e45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3ec89ec97441b0" /><Relationship Type="http://schemas.openxmlformats.org/officeDocument/2006/relationships/notesMaster" Target="/ppt/notesMasters/notesMaster1.xml" Id="Rcae9d7cc3e674b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356a0a3e134fde" /><Relationship Type="http://schemas.openxmlformats.org/officeDocument/2006/relationships/notesMaster" Target="/ppt/notesMasters/notesMaster1.xml" Id="R5f674dac94cf46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7f9965f9804cb9" /><Relationship Type="http://schemas.openxmlformats.org/officeDocument/2006/relationships/notesMaster" Target="/ppt/notesMasters/notesMaster1.xml" Id="R2108553ab39848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1cb7e4c88421a" /><Relationship Type="http://schemas.openxmlformats.org/officeDocument/2006/relationships/notesMaster" Target="/ppt/notesMasters/notesMaster1.xml" Id="Re4e101589162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cb0b5ec8544064" /><Relationship Type="http://schemas.openxmlformats.org/officeDocument/2006/relationships/notesMaster" Target="/ppt/notesMasters/notesMaster1.xml" Id="R428bc326d9c847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e1dcc2ab3491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ff7543f52744b4" /><Relationship Type="http://schemas.openxmlformats.org/officeDocument/2006/relationships/slideLayout" Target="/ppt/slideLayouts/slideLayout1.xml" Id="Re66b93fda720467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b93fda720467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33f8ffe924f30" /><Relationship Type="http://schemas.openxmlformats.org/officeDocument/2006/relationships/notesSlide" Target="/ppt/notesSlides/notesSlide1.xml" Id="R35523a29a6f5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ad1be32c946d8" /><Relationship Type="http://schemas.openxmlformats.org/officeDocument/2006/relationships/image" Target="/ppt/media/image.png" Id="R3c07491ca8c94178" /><Relationship Type="http://schemas.openxmlformats.org/officeDocument/2006/relationships/image" Target="/ppt/media/image2.png" Id="R0b49a71d1e2d4ffa" /><Relationship Type="http://schemas.openxmlformats.org/officeDocument/2006/relationships/image" Target="/ppt/media/image3.png" Id="Re52d430b6009465c" /><Relationship Type="http://schemas.openxmlformats.org/officeDocument/2006/relationships/notesSlide" Target="/ppt/notesSlides/notesSlide2.xml" Id="Rb08799c80cb04d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00aa0e3154d07" /><Relationship Type="http://schemas.openxmlformats.org/officeDocument/2006/relationships/image" Target="/ppt/media/image4.png" Id="R4fb69c1df7b448a8" /><Relationship Type="http://schemas.openxmlformats.org/officeDocument/2006/relationships/image" Target="/ppt/media/image5.png" Id="Rd67a6895d2f5460a" /><Relationship Type="http://schemas.openxmlformats.org/officeDocument/2006/relationships/image" Target="/ppt/media/image6.png" Id="R4dcb93b94661425d" /><Relationship Type="http://schemas.openxmlformats.org/officeDocument/2006/relationships/image" Target="/ppt/media/image7.png" Id="R7e44934be6fd4867" /><Relationship Type="http://schemas.openxmlformats.org/officeDocument/2006/relationships/image" Target="/ppt/media/image8.png" Id="R517a79ef74c64b0b" /><Relationship Type="http://schemas.openxmlformats.org/officeDocument/2006/relationships/notesSlide" Target="/ppt/notesSlides/notesSlide3.xml" Id="R48261f83730d49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7c82acdc45bf" /><Relationship Type="http://schemas.openxmlformats.org/officeDocument/2006/relationships/image" Target="/ppt/media/image9.png" Id="R71274c6cf29a4411" /><Relationship Type="http://schemas.openxmlformats.org/officeDocument/2006/relationships/image" Target="/ppt/media/image10.png" Id="Rd4edc89e938247df" /><Relationship Type="http://schemas.openxmlformats.org/officeDocument/2006/relationships/image" Target="/ppt/media/image11.png" Id="Re506c33072a64f79" /><Relationship Type="http://schemas.openxmlformats.org/officeDocument/2006/relationships/notesSlide" Target="/ppt/notesSlides/notesSlide4.xml" Id="R9373f1a2dc1d43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f6fc663054939" /><Relationship Type="http://schemas.openxmlformats.org/officeDocument/2006/relationships/notesSlide" Target="/ppt/notesSlides/notesSlide5.xml" Id="Rf847ab6c87f0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c7457d95148b8" /><Relationship Type="http://schemas.openxmlformats.org/officeDocument/2006/relationships/image" Target="/ppt/media/image12.png" Id="R1105473f397b484a" /><Relationship Type="http://schemas.openxmlformats.org/officeDocument/2006/relationships/notesSlide" Target="/ppt/notesSlides/notesSlide6.xml" Id="R5507bb189df9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10702E-E523-4B59-8C88-63AE1D4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-822960"/>
            <a:ext cx="5303520" cy="5303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11E08F-4C76-4CB8-90D9-0328E59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29184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F46327A-933D-4754-9D4E-13098CC2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B45425-FA3A-4DFC-A587-39A29AE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69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0AC4E69-6C2D-4381-A3E0-5ECC5CF4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9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3ABA856-A563-400A-81BD-D6B94701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646554-8EF8-4A34-B361-48E5CC3C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069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9FFB35B-FB79-4134-89A9-C0DC5220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069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57AEDDC-405D-4623-9095-3DCF6E89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76B1156-E4D6-468E-89B4-D9B724A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062C35-7FB7-4DA4-90E2-A0BEF9EF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1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8337B39-83BF-4956-A157-7C1FF212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51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49ECAC7-72E9-45F4-8BCA-79F3148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51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69A955-E4C2-4D3E-997C-E10DF723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51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4B0E18F-ACE3-40A4-A3E6-49DB6825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E08A2F2-D751-4F76-8C27-D0DBDF9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5D788EB-1C57-40A8-ADB1-A1FC3B53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4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6661425-B267-43D8-A45E-C5710F6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34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2F7FE0F-7126-4E94-9646-03A9D597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434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B741F20-F3DE-4968-8FC2-A535EAA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434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4D006FC-9006-4F14-A1FF-B7E17165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5212080" y="1051560"/>
            <a:ext cx="3566160" cy="265176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0EF24AF-1304-425A-8548-21F4563E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5212080" y="1051560"/>
            <a:ext cx="3566160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3F486A6-6872-4E96-9659-5DD21AC5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5669280" y="1737360"/>
            <a:ext cx="137160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918823D-4836-45D5-8122-3809E3C1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178040" y="1600200"/>
            <a:ext cx="137160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F93467B-D0D7-4CE6-8F11-58B2535E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5577840" y="2743200"/>
            <a:ext cx="292608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3E4"/>
          </a:solidFill>
          <a:ln xmlns:a="http://schemas.openxmlformats.org/drawingml/2006/main" w="12700">
            <a:solidFill>
              <a:srgbClr val="FBF3E4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1909929-E9DF-450A-90A8-CBCE0EF5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5715000" y="1920240"/>
            <a:ext cx="1280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$ 1.240</a:t>
            </a:r>
            <a:endParaRPr sz="2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5E66321-90D6-44B7-A965-F72DDE26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21031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33A4CAD-4A29-4F78-ADF1-773B2A64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PROYECTO FINAL · 2026</a:t>
            </a:r>
            <a:endParaRPr sz="11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9EB3D41-FB9C-4D77-B43A-87251688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8590"/>
            <a:ext cx="2331720" cy="321310"/>
          </a:xfrm>
          <a:prstGeom xmlns:a="http://schemas.openxmlformats.org/drawingml/2006/main" prst="roundRect">
            <a:avLst>
              <a:gd name="adj" fmla="val 14229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F43991D-363C-40A6-8C4D-5A9768CA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2240280" cy="759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Ventas</a:t>
            </a:r>
            <a:endParaRPr sz="46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ACAA041-2CB9-42BC-921D-8075F78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114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e inventario</a:t>
            </a:r>
            <a:endParaRPr sz="46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9D11BEE-39E5-493E-BD90-7994EDB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4023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Un sistema web para que las tiendas de barrio </a:t>
            </a:r>
            <a:r>
              <a:rPr sz="14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o cualquier otra </a:t>
            </a:r>
            <a:r>
              <a:rPr sz="14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de Cochabamba vendan, controlen su stock y cierren caja sin cuadernos.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D74798B-D2C1-4EFC-9B48-0FA36F3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Luis Yucra · Heydam Céspedes · Magdiel Grandidier</a:t>
            </a:r>
            <a:endParaRPr sz="11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F3B3F0A-1319-405D-92DC-1E1EEF21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173736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EA739CD-AB4A-443F-A15C-099089F3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UNIFRANZ · Ing. Cárdenas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2760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2B8D02-2371-497B-A4B5-39F6FFB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320040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>
              <a:alpha val="85000"/>
            </a:srgbClr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E02CED8-61F1-43E8-84ED-0E8494B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73152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821AA5-5075-4926-AB6C-7C795B4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EL PROBLEMA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11C382-1B1E-4346-AEDD-8B725BB3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429768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Venden.</a:t>
            </a:r>
            <a:endParaRPr sz="3100"/>
          </a:p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Pero el stock no se entera.</a:t>
            </a:r>
            <a:endParaRPr sz="3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A27E99-3747-4379-9ACC-EC25B518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3840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9E2EC"/>
                </a:solidFill>
                <a:latin typeface="Calibri"/>
                <a:ea typeface="Calibri"/>
                <a:cs typeface="Calibri"/>
              </a:rPr>
              <a:t>Cuadernos y hojas sueltas: el inventario nunca se descuenta cuando se cobra en efectivo o QR.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66795E7-A853-4609-ADDB-0EF24E6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5029200" y="502920"/>
            <a:ext cx="329184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>
            <a:extLst xmlns:a="http://schemas.openxmlformats.org/drawingml/2006/main">
              <a:ext uri="{FF2B5EF4-FFF2-40B4-BE49-F238E27FC236}">
                <a16:creationId xmlns:a16="http://schemas.microsoft.com/office/drawing/2014/main" id="{B4309038-2223-4F48-AB80-996D14ED6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7491ca8c94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0" y="7772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6300F09-8943-46F9-BB3F-E5D97E9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6035040" y="502920"/>
            <a:ext cx="21031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Se agotó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sin aviso</a:t>
            </a:r>
            <a:endParaRPr sz="1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BA23DFB-DFCC-4B4B-82F4-75954A15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5623560" y="1828800"/>
            <a:ext cx="329184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>
            <a:extLst xmlns:a="http://schemas.openxmlformats.org/drawingml/2006/main">
              <a:ext uri="{FF2B5EF4-FFF2-40B4-BE49-F238E27FC236}">
                <a16:creationId xmlns:a16="http://schemas.microsoft.com/office/drawing/2014/main" id="{233A7977-7933-42ED-BCA1-4D8834D53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9a71d1e2d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7880" y="210312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D936BB7-A408-4185-A3C8-4EE92B06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6629400" y="1828800"/>
            <a:ext cx="21031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Plata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inmovilizada</a:t>
            </a:r>
            <a:endParaRPr sz="17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FEEB541-0CCB-484D-BDC2-B02F930B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5212080" y="3154680"/>
            <a:ext cx="3291840" cy="105156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A8B8"/>
          </a:solidFill>
          <a:ln xmlns:a="http://schemas.openxmlformats.org/drawingml/2006/main" w="12700">
            <a:solidFill>
              <a:srgbClr val="F7A8B8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C29ECCC7-5786-4825-8E28-376111519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d430b600946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342900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4DFBBC2-D719-479B-BD6B-B7226EF7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217920" y="3154680"/>
            <a:ext cx="21031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Cierres de caja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de horas</a:t>
            </a:r>
            <a:endParaRPr sz="17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9BBCFC81-61A2-4FFE-8084-DD0B75F1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35661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A9D8922-D1D8-4119-8843-4026F67C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3566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Validado con un vendedor de abarrotes ✔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83800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15262E-19B0-42B4-8213-FA03D31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-10972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2BA16-E607-4841-AC6F-D8EE31E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LA SOLUCIÓN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327EC1-CC0F-407A-999C-FB755858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27100"/>
            <a:ext cx="4114800" cy="195580"/>
          </a:xfrm>
          <a:prstGeom xmlns:a="http://schemas.openxmlformats.org/drawingml/2006/main" prst="roundRect">
            <a:avLst>
              <a:gd name="adj" fmla="val 23377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3AA5CE4-EC43-4987-B6FE-ABD4C95B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4023360" cy="462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Todo en un solo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49DC2D-7373-440D-9748-991DC95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lugar</a:t>
            </a:r>
            <a:endParaRPr sz="2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CCFBD48-9023-46BF-B22C-731480D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457200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21EBDA1-575E-4E79-B504-63B871B1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4572000" cy="320040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E56FFD6-1935-4575-B642-1E4F8296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99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7"/>
          </a:solidFill>
          <a:ln xmlns:a="http://schemas.openxmlformats.org/drawingml/2006/main" w="12700">
            <a:solidFill>
              <a:srgbClr val="FF5F57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B2B4F32-ABC6-4E10-A8BC-AC4CEA0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299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BC2E"/>
          </a:solidFill>
          <a:ln xmlns:a="http://schemas.openxmlformats.org/drawingml/2006/main" w="12700">
            <a:solidFill>
              <a:srgbClr val="FEBC2E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3D8B283-401F-4A3E-8111-12C142CF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299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840"/>
          </a:solidFill>
          <a:ln xmlns:a="http://schemas.openxmlformats.org/drawingml/2006/main" w="12700">
            <a:solidFill>
              <a:srgbClr val="28C84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BB28EF8-B4F6-4680-A267-CC080128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105156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820F0D-650D-4EE4-88A8-49EA986A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377440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EFCC74-45D6-40E2-9B00-E2EA9722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37744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Ventas</a:t>
            </a:r>
            <a:endParaRPr sz="9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BD1CC8-82A1-4156-B207-5E75A771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788920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3A5C"/>
          </a:solidFill>
          <a:ln xmlns:a="http://schemas.openxmlformats.org/drawingml/2006/main" w="12700">
            <a:solidFill>
              <a:srgbClr val="2B3A5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0CCB73B-EC89-4A0A-9D05-DDB094C1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78892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Caja</a:t>
            </a:r>
            <a:endParaRPr sz="9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21D6ED8-4228-447E-9033-091FC59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00400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3A5C"/>
          </a:solidFill>
          <a:ln xmlns:a="http://schemas.openxmlformats.org/drawingml/2006/main" w="12700">
            <a:solidFill>
              <a:srgbClr val="2B3A5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3E99BDC-638D-41B9-AE6E-75EC4F28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0040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Inventario</a:t>
            </a:r>
            <a:endParaRPr sz="9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2A672ED-5899-4C1F-A573-E4320B9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11880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3A5C"/>
          </a:solidFill>
          <a:ln xmlns:a="http://schemas.openxmlformats.org/drawingml/2006/main" w="12700">
            <a:solidFill>
              <a:srgbClr val="2B3A5C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20B8AEB-E572-42B6-82BD-AF67B728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11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Compras</a:t>
            </a:r>
            <a:endParaRPr sz="9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20C41B1-C930-42FE-B9CA-EA883ECB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23360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3A5C"/>
          </a:solidFill>
          <a:ln xmlns:a="http://schemas.openxmlformats.org/drawingml/2006/main" w="12700">
            <a:solidFill>
              <a:srgbClr val="2B3A5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704C218-9570-4DF5-8C67-984CED34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2336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Reportes</a:t>
            </a:r>
            <a:endParaRPr sz="9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38B4160-0148-4B48-96A0-C827217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3612"/>
            <a:ext cx="320040" cy="452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91272E8-AD4F-4714-BD49-97820534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65576"/>
            <a:ext cx="320040" cy="7406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CC72060-4335-4ADF-A442-9CBE8942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30168"/>
            <a:ext cx="320040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8BE7CAD-A98C-4A79-A389-3CBDDFF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0984"/>
            <a:ext cx="320040" cy="90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C97BE34-E6C3-428F-A968-9E31B91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7872"/>
            <a:ext cx="320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2521430-FCCF-44A6-80C8-7BC3AB5E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42316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E5DC"/>
          </a:solidFill>
          <a:ln xmlns:a="http://schemas.openxmlformats.org/drawingml/2006/main" w="12700">
            <a:solidFill>
              <a:srgbClr val="FFE5D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C7A5A2E-CEF2-4BAE-BEC4-97EE2904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42316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⚠ Stock bajo: Arroz (3)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68A8E29-2C71-4B44-8529-5B3C517E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08960"/>
            <a:ext cx="141732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0F7F4"/>
          </a:solidFill>
          <a:ln xmlns:a="http://schemas.openxmlformats.org/drawingml/2006/main" w="12700">
            <a:solidFill>
              <a:srgbClr val="E0F7F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BF432F3-65B9-465E-9F42-21F55A7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08960"/>
            <a:ext cx="1417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Cobro QR ✔ $ 85</a:t>
            </a:r>
            <a:endParaRPr sz="10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5A78499-423A-42D8-9D6B-40CA6A91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188720"/>
            <a:ext cx="320040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C1E2BB0-B939-47F5-B168-A1AF9737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2344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pic>
        <p:nvPicPr>
          <p:cNvPr id="34" name="Image 0">
            <a:extLst xmlns:a="http://schemas.openxmlformats.org/drawingml/2006/main">
              <a:ext uri="{FF2B5EF4-FFF2-40B4-BE49-F238E27FC236}">
                <a16:creationId xmlns:a16="http://schemas.microsoft.com/office/drawing/2014/main" id="{651D44DA-6798-40CD-9997-B5C3EF00E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69c1df7b448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13258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13A65164-DA53-489D-A6A2-6F2FC3EE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188720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Ventas con cobro efectivo / QR</a:t>
            </a:r>
            <a:endParaRPr sz="12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F4860B6-5617-431C-BE27-2BF384B7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47088"/>
            <a:ext cx="320040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C5800B0F-DEB4-4303-A8C0-366C550D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892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38" name="Image 1">
            <a:extLst xmlns:a="http://schemas.openxmlformats.org/drawingml/2006/main">
              <a:ext uri="{FF2B5EF4-FFF2-40B4-BE49-F238E27FC236}">
                <a16:creationId xmlns:a16="http://schemas.microsoft.com/office/drawing/2014/main" id="{1D941FDE-DEDA-4798-8ECB-3D9A76699E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a6895d2f546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198424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C2E275B9-7CDC-4570-A88F-0F921F6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47088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Apertura y cierre de caja</a:t>
            </a:r>
            <a:endParaRPr sz="12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1E3F5A0-1252-4352-B407-BE286EE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05456"/>
            <a:ext cx="320040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408D509D-49C6-42B2-B3C7-DFFD5F5E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55117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12700">
            <a:solidFill>
              <a:srgbClr val="7B5EA7"/>
            </a:solidFill>
            <a:prstDash val="solid"/>
          </a:ln>
        </p:spPr>
      </p:sp>
      <p:pic>
        <p:nvPicPr>
          <p:cNvPr id="42" name="Image 2">
            <a:extLst xmlns:a="http://schemas.openxmlformats.org/drawingml/2006/main">
              <a:ext uri="{FF2B5EF4-FFF2-40B4-BE49-F238E27FC236}">
                <a16:creationId xmlns:a16="http://schemas.microsoft.com/office/drawing/2014/main" id="{3DA6AD5E-06A1-4E8A-9D7C-B9A1A465E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b93b9466142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26426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50DA8DE2-375B-4A51-A59B-9B35C59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05456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Inventario con alertas</a:t>
            </a:r>
            <a:endParaRPr sz="1200"/>
          </a:p>
        </p:txBody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6A12F665-6FB0-44AA-8AED-055D8F99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63824"/>
            <a:ext cx="320040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C54CC83F-91D2-4B03-A4DE-B26BB49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8B8"/>
          </a:solidFill>
          <a:ln xmlns:a="http://schemas.openxmlformats.org/drawingml/2006/main" w="12700">
            <a:solidFill>
              <a:srgbClr val="F7A8B8"/>
            </a:solidFill>
            <a:prstDash val="solid"/>
          </a:ln>
        </p:spPr>
      </p:sp>
      <p:pic>
        <p:nvPicPr>
          <p:cNvPr id="46" name="Image 3">
            <a:extLst xmlns:a="http://schemas.openxmlformats.org/drawingml/2006/main">
              <a:ext uri="{FF2B5EF4-FFF2-40B4-BE49-F238E27FC236}">
                <a16:creationId xmlns:a16="http://schemas.microsoft.com/office/drawing/2014/main" id="{FAFD6A38-E2D3-4BB7-91D2-0732CEE7A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4934be6fd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330098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111D1290-8C2C-439F-B2C0-E18673F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163824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Compras y proveedores</a:t>
            </a:r>
            <a:endParaRPr sz="1200"/>
          </a:p>
        </p:txBody>
      </p:sp>
      <p:sp>
        <p:nvSpPr>
          <p:cNvPr id="48" name="Shape 42">
            <a:extLst xmlns:a="http://schemas.openxmlformats.org/drawingml/2006/main">
              <a:ext uri="{FF2B5EF4-FFF2-40B4-BE49-F238E27FC236}">
                <a16:creationId xmlns:a16="http://schemas.microsoft.com/office/drawing/2014/main" id="{E819BE20-7427-45A6-B556-3CD9362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2192"/>
            <a:ext cx="320040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  <a:effectLst xmlns:a="http://schemas.openxmlformats.org/drawingml/2006/main"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3">
            <a:extLst xmlns:a="http://schemas.openxmlformats.org/drawingml/2006/main">
              <a:ext uri="{FF2B5EF4-FFF2-40B4-BE49-F238E27FC236}">
                <a16:creationId xmlns:a16="http://schemas.microsoft.com/office/drawing/2014/main" id="{F1579787-09D0-4DDD-8D2A-9EED537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6791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pic>
        <p:nvPicPr>
          <p:cNvPr id="50" name="Image 4">
            <a:extLst xmlns:a="http://schemas.openxmlformats.org/drawingml/2006/main">
              <a:ext uri="{FF2B5EF4-FFF2-40B4-BE49-F238E27FC236}">
                <a16:creationId xmlns:a16="http://schemas.microsoft.com/office/drawing/2014/main" id="{EE2A11F9-D58F-46CD-BDE1-CEAC80413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a79ef74c64b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39593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6FBE963D-9808-4F50-97B0-6475770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822192"/>
            <a:ext cx="2560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Reportes diarios</a:t>
            </a:r>
            <a:endParaRPr sz="1200"/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C733E1ED-6CDE-492F-BD6A-FAB167D7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26280"/>
            <a:ext cx="3200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53" name="Text 46">
            <a:extLst xmlns:a="http://schemas.openxmlformats.org/drawingml/2006/main">
              <a:ext uri="{FF2B5EF4-FFF2-40B4-BE49-F238E27FC236}">
                <a16:creationId xmlns:a16="http://schemas.microsoft.com/office/drawing/2014/main" id="{F80ECB50-7825-4718-B5EA-45C97EA9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262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roles: Admin · Cajero · Inventario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01972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EC4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FE6DCB-3D31-466A-A34A-669560CD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657600"/>
            <a:ext cx="2560320" cy="2560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820BF8-E34A-43E7-9CFA-DED0F3D4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720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893420-779F-4D82-91D7-8E67F1E1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5720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04E1619-F576-4152-A4A6-A2E4A30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5720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1440D93-22E0-46A2-80CA-5E6AD528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0421F4E-AA4F-4A27-9CF9-0778E04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720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3CE705B-B750-49C8-A1D4-911F20DC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640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E195EFA-8963-4B57-BC0E-9E981ED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40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473093D-CF81-4CCB-888A-187F10D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640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A6234DE-DF48-425F-BAEF-F0EF842E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40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E3C1797-9805-428F-B2B4-BE2AF9E0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6400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9D5C4D6-696B-45E3-BF2A-28736233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822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E73B843-98A1-42D4-AE10-3357FE01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822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FC370D8-5AA1-40C1-8A88-5601164E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822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8558460-A530-4271-B5C6-1A7CF3DE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822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2E8B221-09C4-4132-92D6-97C92986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8229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7D3B851-5FC1-4D12-9EB6-3F5D3F3C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005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686BF03-04D5-4CCF-89F2-17D84B1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005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50E260F-C36B-4D7C-9F86-D9F2FFE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005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5DE17B4-8D3B-4495-8335-9F01F39D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5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8E0CDE2-0B9B-4893-ACBD-C5C5E83C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005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52B27BB-F9EA-46F3-A978-0E5776D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ARQUITECTURA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9CDA364-F24C-4797-9730-88C6FA54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Web con C# en Render</a:t>
            </a:r>
            <a:endParaRPr sz="3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1168873-8D1D-4B16-B604-3C48588E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331720"/>
            <a:ext cx="5669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213D"/>
            </a:solidFill>
            <a:prstDash val="dash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6390978-4BF8-4C81-83D7-7D2B7AC8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0">
            <a:extLst xmlns:a="http://schemas.openxmlformats.org/drawingml/2006/main">
              <a:ext uri="{FF2B5EF4-FFF2-40B4-BE49-F238E27FC236}">
                <a16:creationId xmlns:a16="http://schemas.microsoft.com/office/drawing/2014/main" id="{60BA088D-8B21-4729-BCAB-07D405A911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74c6cf29a4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201168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EBCA2AB-7026-4E37-8A21-46FE0C99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Navegador</a:t>
            </a:r>
            <a:endParaRPr sz="15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635DF41-A645-474E-B495-B2A07829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Acceso mediante navegador</a:t>
            </a:r>
            <a:endParaRPr sz="11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8016CD0-4273-4F10-82B2-57E60DF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60020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1" name="Image 1">
            <a:extLst xmlns:a="http://schemas.openxmlformats.org/drawingml/2006/main">
              <a:ext uri="{FF2B5EF4-FFF2-40B4-BE49-F238E27FC236}">
                <a16:creationId xmlns:a16="http://schemas.microsoft.com/office/drawing/2014/main" id="{E4976C0B-9324-417F-9AE6-357B6356BE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dc89e9382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0520" y="201168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86E43C74-6B4E-4CA4-ABD3-8F7F44A9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0040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ASP.NET Core · C#</a:t>
            </a:r>
            <a:endParaRPr sz="15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7764EEB4-0910-4B4F-BC6C-9BC90E7D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204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Lógica, roles y API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3249BE3D-2C62-455F-B043-E672A028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5" name="Image 2">
            <a:extLst xmlns:a="http://schemas.openxmlformats.org/drawingml/2006/main">
              <a:ext uri="{FF2B5EF4-FFF2-40B4-BE49-F238E27FC236}">
                <a16:creationId xmlns:a16="http://schemas.microsoft.com/office/drawing/2014/main" id="{BFBF9A4B-3F99-4368-B508-7CCCCC3E51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6c33072a6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5160" y="201168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11866F95-2CBA-482A-8CE8-3BD8777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040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SQLite</a:t>
            </a:r>
            <a:endParaRPr sz="1500"/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1166F50A-2C1C-47F5-988C-A7700716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Base de datos SQLite</a:t>
            </a:r>
            <a:endParaRPr sz="1100"/>
          </a:p>
        </p:txBody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F2244DD0-A9FE-4722-AFB2-A5EA020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548640" y="416052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20E81897-A195-4738-B6D4-7B0AE937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548640" y="41605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URL pública en Render</a:t>
            </a:r>
            <a:endParaRPr sz="1200"/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EDD28F7A-61DE-46C5-A94A-FD5BB2E5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16052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C285DD5D-ED3F-48F3-B665-5D449A69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1605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Acceso público con HTTPS</a:t>
            </a:r>
            <a:endParaRPr sz="1200"/>
          </a:p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EAF46AFC-D0AA-467E-B954-1F0DF67F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5577840" y="416052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8B8"/>
          </a:solidFill>
          <a:ln xmlns:a="http://schemas.openxmlformats.org/drawingml/2006/main" w="12700">
            <a:solidFill>
              <a:srgbClr val="F7A8B8"/>
            </a:solidFill>
            <a:prstDash val="solid"/>
          </a:ln>
        </p:spPr>
      </p:sp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F4455FD9-3D51-4908-879E-B6EAD5BF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5577840" y="41605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Persistencia en Render por verificar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20482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DEA9FBB-37F4-4AFC-BA76-BF9904B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-91440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8B8"/>
          </a:solidFill>
          <a:ln xmlns:a="http://schemas.openxmlformats.org/drawingml/2006/main" w="12700">
            <a:solidFill>
              <a:srgbClr val="F7A8B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8125D8-C833-4C83-BB31-89F14A8B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EL PROCESO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BF667F3-C699-4A61-9797-24FEE1BB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010"/>
            <a:ext cx="1920240" cy="237490"/>
          </a:xfrm>
          <a:prstGeom xmlns:a="http://schemas.openxmlformats.org/drawingml/2006/main" prst="roundRect">
            <a:avLst>
              <a:gd name="adj" fmla="val 19251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1E0A3E4-6496-47C1-9620-8F10A4CE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828800" cy="561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Scrum</a:t>
            </a:r>
            <a:endParaRPr sz="3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E19E15-52D9-434A-B29B-D432BFC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6868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en sprints de 2 semanas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8B8530-8371-4B0C-8BE4-F92600C3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8EEADE-22B8-4330-A9C6-56399928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LY</a:t>
            </a:r>
            <a:endParaRPr sz="2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A47A9A2-C596-4AE5-9B75-D9703A3D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Luis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5EAF81-DA76-4704-BDAF-C0EF457A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00400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desarrollo C#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E18C0E0-3D02-4087-9FE2-B52BC2C5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73736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C9182ED-5BD3-4047-B168-EE67CE1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73736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HC</a:t>
            </a:r>
            <a:endParaRPr sz="2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EB2258C-10C7-4F83-81D4-72100223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926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Heydam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C8CD7A8-4CA2-43F4-96BF-866F1791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200400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Análisis y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base de datos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E91EE5F-B861-48B8-879A-B01EFD96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73736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EA7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247081F-D35F-490B-9D5E-B547BCF7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737360"/>
            <a:ext cx="1097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MG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2B115AB-7EC3-46BA-8C27-531E210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926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Magdiel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A7AB8F6-9079-4E4E-ADAE-134FCC86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200400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QA y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documentación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E8B503-E8A3-48CB-AAB4-84B30563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Kanban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A8842D9-9972-41F1-8086-FEF2C55A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31920"/>
            <a:ext cx="1280160" cy="320040"/>
          </a:xfrm>
          <a:prstGeom xmlns:a="http://schemas.openxmlformats.org/drawingml/2006/main" prst="roundRect">
            <a:avLst>
              <a:gd name="adj" fmla="val 4857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1FB751B-6EF9-4B47-BA4B-2F77F90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3192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Pendiente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463A8CC-0B29-4584-A125-7798EDF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31920"/>
            <a:ext cx="1280160" cy="320040"/>
          </a:xfrm>
          <a:prstGeom xmlns:a="http://schemas.openxmlformats.org/drawingml/2006/main" prst="roundRect">
            <a:avLst>
              <a:gd name="adj" fmla="val 48571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06B70B1-97EF-4BF1-B0CE-7830E0B9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3192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 proceso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CAC1A85-D3A9-4608-A8BF-917B4F69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931920"/>
            <a:ext cx="1280160" cy="320040"/>
          </a:xfrm>
          <a:prstGeom xmlns:a="http://schemas.openxmlformats.org/drawingml/2006/main" prst="roundRect">
            <a:avLst>
              <a:gd name="adj" fmla="val 48571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71F8B4-2AEE-4E92-9CD7-69D4D58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93192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Finalizado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DE2FFC0-639F-4AA6-BFEF-C8BFE050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5577840" y="822960"/>
            <a:ext cx="1737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D166"/>
            </a:solidFill>
            <a:prstDash val="solid"/>
          </a:ln>
          <a:effectLst xmlns:a="http://schemas.openxmlformats.org/drawingml/2006/main"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4D74653-88C6-416F-9688-BFC7AF6A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5715000" y="822960"/>
            <a:ext cx="1463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Poco tiempo →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priorizar ventas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e inventario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3DA3016-6F34-4F06-8F0E-26BC1E58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040880" y="1554480"/>
            <a:ext cx="1737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8B8"/>
          </a:solidFill>
          <a:ln xmlns:a="http://schemas.openxmlformats.org/drawingml/2006/main" w="12700">
            <a:solidFill>
              <a:srgbClr val="F7A8B8"/>
            </a:solidFill>
            <a:prstDash val="solid"/>
          </a:ln>
          <a:effectLst xmlns:a="http://schemas.openxmlformats.org/drawingml/2006/main"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24E60D4-C92A-4037-BE95-54C80CC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178040" y="1554480"/>
            <a:ext cx="1463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Pérdida de datos: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probar persistencia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D1CDFC3-BD89-4EBF-B92C-05D12C0B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5760720" y="2651760"/>
            <a:ext cx="1737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  <a:effectLst xmlns:a="http://schemas.openxmlformats.org/drawingml/2006/main"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D6965C6-1A37-4FD4-8B92-F5ACF4D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5897880" y="2651760"/>
            <a:ext cx="1463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Resistencia al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cambio →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capacitación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D28CB1E-AF5D-42BF-ABB5-813CA09F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0292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RIESGOS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78036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06DD06-0A7D-4363-8A85-6AA2EB34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-91440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79CFB4-2BD5-4D34-B39E-AA58A4A0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57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40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EL PLAN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0A6FD7-C7C9-4302-8B7B-FC1587D8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4008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Plan de hitos (4 y 5 por confirmar)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427CF39-4A8D-4019-B10A-9A5C1B1D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5760720" cy="32918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6" name="Image 0">
            <a:extLst xmlns:a="http://schemas.openxmlformats.org/drawingml/2006/main">
              <a:ext uri="{FF2B5EF4-FFF2-40B4-BE49-F238E27FC236}">
                <a16:creationId xmlns:a16="http://schemas.microsoft.com/office/drawing/2014/main" id="{81A9554B-0FA5-49CE-A3C4-2A830DE7DA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5473f397b48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1328"/>
            <a:ext cx="5577840" cy="3090672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BF05943-37B4-443E-BDFC-48977DC6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6002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FFFF"/>
            </a:solidFill>
            <a:prstDash val="dash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512AE19-416F-4ED4-9D40-3FCA1522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71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1FA909C-64DE-4B04-859E-17A5D683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71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  <a:endParaRPr sz="16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7FA731A-EF12-4758-94F4-EAD3467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7160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03–08 ago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Inicio y equipo</a:t>
            </a:r>
            <a:endParaRPr sz="12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2BD020D-33B1-4FC2-9E06-899F1A42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933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F3128E4-9546-4B35-8F93-73F4EFA8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9339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EC2AD6E-0F35-4F89-ABF9-8C58A89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93392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 ago–12 sep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Documento v1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D08843-EB47-4B93-97A9-8063DA8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1518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97B8146-6616-4E4B-9006-78EDA1E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1518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  <a:endParaRPr sz="16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F3A1DF5-3B69-4FB4-BA09-5AC5820C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15184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12–24 oct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Doc. v2 + Gantt + slides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1738D0-7C59-4A4C-9211-3EC3D24B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3697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3B474EA-61B6-4A99-A021-FC196465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3697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5087286-4545-4A7A-8916-C90CBDA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6976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16–24 nov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Prototipo funcional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853C063-66CA-4A8B-938B-BA72DF2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587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B3BB021-FD00-4EC6-B3E5-F613ABE3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587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4213D"/>
                </a:solidFill>
                <a:latin typeface="Georgia"/>
                <a:ea typeface="Georgia"/>
                <a:cs typeface="Georgia"/>
              </a:rPr>
              <a:t>5</a:t>
            </a:r>
            <a:endParaRPr sz="16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0C6F551-D024-4480-A2BF-5794008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8768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11–19 dic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Entrega final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87ED0E8-010F-4233-B48D-1AA3EFA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72000"/>
            <a:ext cx="2377440" cy="9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33258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2026-10-20T18:44:22.2900000Z</dcterms:created>
  <dcterms:modified xsi:type="dcterms:W3CDTF">2026-10-20T18:44:22.2900000Z</dcterms:modified>
</coreProperties>
</file>